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+4+azyero1LtsSN6UEHp+/2Da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 Sentiment Analysis System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Production ML System Demonstration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Transformers • Docker • AWS SageMaker • LangGraph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5720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Arial"/>
              <a:buNone/>
            </a:pPr>
            <a:r>
              <a:rPr lang="en-US" sz="2400">
                <a:solidFill>
                  <a:schemeClr val="lt1"/>
                </a:solidFill>
              </a:rPr>
              <a:t>Team 4 </a:t>
            </a: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Gangadhar Singh Shiva  , Akshobhya Rao,  Ananya Chandraker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February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Business Use Case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1737360"/>
            <a:ext cx="34747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Traditional ML deployments expose static inference endpoints without reasoning capability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Models generate predictions + confidence scores but can't adapt behavior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Customer service needs context-aware responses based on sentiment intensity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028090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0" y="1737360"/>
            <a:ext cx="34747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Agentic orchestration with LangGraph for intelligent routing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Confidence-based decision making (&gt;0.8 = empathetic path)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Production-ready MLOps with model registry &amp; CI/CD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Real-world validation on 3,062 Amazon reviews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solidFill>
            <a:srgbClr val="00A896"/>
          </a:solidFill>
          <a:ln cap="flat" cmpd="sng" w="25400">
            <a:solidFill>
              <a:srgbClr val="0566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User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(Natural Language)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4572000" y="160020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566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" name="Google Shape;41;p3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solidFill>
            <a:srgbClr val="02C39A"/>
          </a:solidFill>
          <a:ln cap="flat" cmpd="sng" w="25400">
            <a:solidFill>
              <a:srgbClr val="0566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LangGraph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3"/>
          <p:cNvCxnSpPr/>
          <p:nvPr/>
        </p:nvCxnSpPr>
        <p:spPr>
          <a:xfrm>
            <a:off x="4572000" y="233172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566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" name="Google Shape;44;p3"/>
          <p:cNvSpPr/>
          <p:nvPr/>
        </p:nvSpPr>
        <p:spPr>
          <a:xfrm>
            <a:off x="3200400" y="2468880"/>
            <a:ext cx="2743200" cy="548640"/>
          </a:xfrm>
          <a:prstGeom prst="rect">
            <a:avLst/>
          </a:prstGeom>
          <a:solidFill>
            <a:srgbClr val="00A896"/>
          </a:solidFill>
          <a:ln cap="flat" cmpd="sng" w="25400">
            <a:solidFill>
              <a:srgbClr val="0566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200400" y="24688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SageMaker Runtime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3"/>
          <p:cNvCxnSpPr/>
          <p:nvPr/>
        </p:nvCxnSpPr>
        <p:spPr>
          <a:xfrm>
            <a:off x="4572000" y="306324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566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" name="Google Shape;47;p3"/>
          <p:cNvSpPr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solidFill>
            <a:srgbClr val="00A896"/>
          </a:solidFill>
          <a:ln cap="flat" cmpd="sng" w="25400">
            <a:solidFill>
              <a:srgbClr val="0566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Docker 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(Inference)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3"/>
          <p:cNvCxnSpPr/>
          <p:nvPr/>
        </p:nvCxnSpPr>
        <p:spPr>
          <a:xfrm>
            <a:off x="4572000" y="379476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566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" name="Google Shape;50;p3"/>
          <p:cNvSpPr/>
          <p:nvPr/>
        </p:nvSpPr>
        <p:spPr>
          <a:xfrm>
            <a:off x="3200400" y="3931920"/>
            <a:ext cx="2743200" cy="548640"/>
          </a:xfrm>
          <a:prstGeom prst="rect">
            <a:avLst/>
          </a:prstGeom>
          <a:solidFill>
            <a:srgbClr val="00A896"/>
          </a:solidFill>
          <a:ln cap="flat" cmpd="sng" w="25400">
            <a:solidFill>
              <a:srgbClr val="0566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200400" y="39319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12121"/>
                </a:solidFill>
              </a:rPr>
              <a:t>RobERT</a:t>
            </a: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(66M params)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0" y="1188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0" y="1645920"/>
            <a:ext cx="2286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Confidence routing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Real-time 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Auto-scaling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PII protection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&lt;500ms latency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1645920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99.98%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Avg Confidence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Accuracy (Test)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MLOps Pipeline Architecture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05840" y="10972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cleanup_sagemaker.py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05840" y="1298448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Remove stale resources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05840" y="16916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train_upload_deploy.py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05840" y="1892808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Register model in 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05840" y="228600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promote_best_model.py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05840" y="2487168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Metric-driven promotion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005840" y="28803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deploy_from_registry.py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005840" y="3081528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Zero-downtime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005840" y="34747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test_inference.py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005840" y="3675888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Validate endpoint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05840" y="40690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langgraph_inference.py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05840" y="4270248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Agentic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SageMaker Model Registry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937760" y="201168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Versioned models with ARNs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Metrics tracking (accuracy, F1)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Approval workflow (Pending → Approved)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Single source of truth for deployments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Automated best model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Model Registry - Versioning &amp; Approval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1005840"/>
            <a:ext cx="5303520" cy="3566160"/>
          </a:xfrm>
          <a:prstGeom prst="rect">
            <a:avLst/>
          </a:prstGeom>
          <a:solidFill>
            <a:srgbClr val="1E1E1E"/>
          </a:solidFill>
          <a:ln cap="flat" cmpd="sng" w="25400">
            <a:solidFill>
              <a:srgbClr val="0566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0080" y="11887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Model Package ARN: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arn:aws:sagemaker:us-east-1:...:model-package/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SentimentAnalysisModels/2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0080" y="21945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Status: Approved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Accuracy: 0.9142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F1 Score: 0.9135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Created: 2026-02-08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943600" y="1005840"/>
            <a:ext cx="2743200" cy="3566160"/>
          </a:xfrm>
          <a:prstGeom prst="rect">
            <a:avLst/>
          </a:prstGeom>
          <a:solidFill>
            <a:srgbClr val="028090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126480" y="1188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Registry Benefits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126480" y="1645920"/>
            <a:ext cx="2377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Reproducibility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Version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Metric-Driven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Auto promotion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Approval gates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Traceability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Full 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Infrastructure Monitoring Dashboards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1005840"/>
            <a:ext cx="411480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CloudWatch Metrics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40080" y="155448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Namespace: SentimentAnalysis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• PositiveRate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• NegativeRate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• LowConfidenceRate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• AvgConfidence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754880" y="1005840"/>
            <a:ext cx="393192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SageMaker Endpoint Metrics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Invocation count &amp;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CPU utilization (target: &lt;70%)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Memory usage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Model latency (p50, p95, p99)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02C39A">
              <a:alpha val="80000"/>
            </a:srgbClr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CloudWatch Alarms (Automated Alerting)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NegativeRate-Alarm: &gt;70% threshold → Investigate customer sentiment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LowConfidenceRate-Alarm: &gt;30% threshold → Model drift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High Latency Alarm: p95 &gt;500ms → Scale endpoint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Error Rate Alarm: &gt;5% → Deployment rollback trigger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Data &amp; Model Monitoring Reports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1005840"/>
            <a:ext cx="5486400" cy="3566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📊 Advanced Statistical 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40080" y="1645920"/>
            <a:ext cx="5120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Metric                Value    Threshold   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─────────────────────────────────────────────────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PositiveRate         50.0%    30-70%     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NegativeRate         50.0%    30-70%     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LowConfidenceRate    50.0%    &lt;40%         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AvgConfidence        0.7425   &gt;0.75        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ConfidenceP90        0.916    &gt;0.85      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AvgTextLength        4.25     10-100       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P95TextLength        5.95     &lt;200       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EmptyTextRate        0.0%     &lt;5%        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AvgEntropy           0.512    &lt;0.60      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028090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S3 Audit Trail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309360" y="155448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Persistent snapshots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s3://bucket/alarms/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alarm_snapshot_*.json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Compliance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Historical trends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126480" y="2834640"/>
            <a:ext cx="2560320" cy="1737360"/>
          </a:xfrm>
          <a:prstGeom prst="rect">
            <a:avLst/>
          </a:prstGeom>
          <a:solidFill>
            <a:srgbClr val="00A896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30936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Data Quality Checks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309360" y="338328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PII anonymization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Text length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Empty input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✓ Distribution drift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Production Inference Results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Synthetic Test Cases (n=9)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40080" y="155448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Accuracy:         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Avg Confidence:   99.98%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Min Confidence:   99.79%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Latency (p95):    &lt;200ms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✓ Negation handling: 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Real-World: iPhone Reviews (n=3,062)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937760" y="155448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Avg Confidence:   50-53%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Domain Mismatch:  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Mixed Sentiment:  Common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Consolas"/>
                <a:ea typeface="Consolas"/>
                <a:cs typeface="Consolas"/>
                <a:sym typeface="Consolas"/>
              </a:rPr>
              <a:t>PII Protected:   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⚠ Requires domain adaptation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{'text': 'This product is amazing!',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 'sentiment': [{'label': 'POSITIVE', 'score': 0.9998860359}]}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{'text': 'This product is not amazing!',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 'sentiment': [{'label': 'NEGATIVE', 'score': 0.9998037219}]}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Batch Inference &amp; Endpoint Invocation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57200" y="1005840"/>
            <a:ext cx="411480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Endpoint Configuration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640080" y="1554480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Name: sentiment-baseline-endpoint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Instance: ml.m5.xlarge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Status: InService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Auto-scaling: 1-3 instances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Invocations: 3,062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Error Rate: 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02C39A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Performance Statistics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937760" y="155448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Throughput: 100+ req/sec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Latency P50: 120ms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Latency P95: &lt;200ms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Latency P99: 280ms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SLA: &lt;500ms p95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response = runtime.invoke_endpoint(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    EndpointName='sentiment-baseline-endpoint',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    ContentType='application/json',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    Body=json.dumps({'inputs': text})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B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Challenges, Risks &amp; Lessons Learned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57200" y="1005840"/>
            <a:ext cx="4114800" cy="1737360"/>
          </a:xfrm>
          <a:prstGeom prst="rect">
            <a:avLst/>
          </a:prstGeom>
          <a:solidFill>
            <a:srgbClr val="FFC107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Technical Challenges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40080" y="155448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⚠ Domain adaptation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Movie reviews → Product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⚠ PII anonymization tradeoffs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Privacy vs model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754880" y="1005840"/>
            <a:ext cx="3931920" cy="1737360"/>
          </a:xfrm>
          <a:prstGeom prst="rect">
            <a:avLst/>
          </a:prstGeom>
          <a:solidFill>
            <a:srgbClr val="FF98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Scalability Risks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Cost scaling with traffic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Multi-region deployment needs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Model size vs latency tradeoff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44336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Ethical Considerations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40080" y="3474720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Potential bias across demographic groups (gender, race, 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Privacy concerns with user text logging (30-day retention policy)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Misuse risk for surveillance or discriminatory filtering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• Need for transparency in automated decision-making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Future Improvements &amp; Roadmap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914400" y="105156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1. Domain Adaptation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914400" y="12984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Fine-tune on product review dataset (Amazon) for better confidence calibration in e-commerce domain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914400" y="173736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2. RAG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914400" y="19842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Integrate retrieval-augmented generation for context-aware responses using knowledge bases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914400" y="242316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3. Multi-Model Ensemble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914400" y="26700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Deploy DistilBERT + RoBERTa + ELECTRA ensemble for improved robustness and calibration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457200" y="31546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914400" y="310896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4. Drift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914400" y="33558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Implement automated concept drift detection (KL divergence, PSI) with retraining triggers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57200" y="38404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14400" y="379476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668D"/>
                </a:solidFill>
                <a:latin typeface="Arial"/>
                <a:ea typeface="Arial"/>
                <a:cs typeface="Arial"/>
                <a:sym typeface="Arial"/>
              </a:rPr>
              <a:t>5. Multi-Language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914400" y="40416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Extend to Spanish, French, German using mBERT or XLM-RoBERTa for global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</a:rPr>
              <a:t>Sentimental</a:t>
            </a:r>
            <a:r>
              <a:rPr b="1" lang="en-US" sz="4200">
                <a:solidFill>
                  <a:srgbClr val="FFFFFF"/>
                </a:solidFill>
              </a:rPr>
              <a:t> Analysis </a:t>
            </a: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System in ML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2286000" y="237744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✓ Complete MLOps lifecycle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✓ Real-world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✓ Production monitoring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Arial"/>
                <a:ea typeface="Arial"/>
                <a:cs typeface="Arial"/>
                <a:sym typeface="Arial"/>
              </a:rPr>
              <a:t>✓ Agentic orchestration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708100" y="3912175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FFFF"/>
                </a:solidFill>
              </a:rPr>
              <a:t>Thank you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2026-02-09T02:42:50Z</dcterms:created>
  <dc:creator>AAI-540 ML Engineering Team</dc:creator>
</cp:coreProperties>
</file>